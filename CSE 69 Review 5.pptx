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  <p:sldId id="270" r:id="rId13"/>
    <p:sldId id="272" r:id="rId14"/>
    <p:sldId id="275" r:id="rId15"/>
    <p:sldId id="276" r:id="rId16"/>
    <p:sldId id="277" r:id="rId17"/>
    <p:sldId id="273" r:id="rId18"/>
    <p:sldId id="274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D5B381-A45A-4BA9-914F-E027AEBCB28E}" v="1" dt="2025-12-01T03:48:06.08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left>
          <a:right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right>
          <a:top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top>
          <a:bottom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bottom>
          <a:insideH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H>
          <a:insideV>
            <a:ln w="9525" cap="flat">
              <a:solidFill>
                <a:srgbClr val="000000">
                  <a:alpha val="0"/>
                </a:srgbClr>
              </a:solidFill>
              <a:prstDash val="solid"/>
              <a:round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4A7EBB"/>
              </a:solidFill>
              <a:prstDash val="solid"/>
              <a:round/>
            </a:ln>
          </a:left>
          <a:right>
            <a:ln w="9525" cap="flat">
              <a:solidFill>
                <a:srgbClr val="4A7EBB"/>
              </a:solidFill>
              <a:prstDash val="solid"/>
              <a:round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9525" cap="flat">
              <a:solidFill>
                <a:srgbClr val="4A7EBB"/>
              </a:solidFill>
              <a:prstDash val="solid"/>
              <a:round/>
            </a:ln>
          </a:bottom>
          <a:insideH>
            <a:ln w="9525" cap="flat">
              <a:solidFill>
                <a:srgbClr val="4A7EBB"/>
              </a:solidFill>
              <a:prstDash val="solid"/>
              <a:round/>
            </a:ln>
          </a:insideH>
          <a:insideV>
            <a:ln w="9525" cap="flat">
              <a:solidFill>
                <a:srgbClr val="4A7EBB"/>
              </a:solidFill>
              <a:prstDash val="solid"/>
              <a:round/>
            </a:ln>
          </a:insideV>
        </a:tcBdr>
        <a:fill>
          <a:solidFill>
            <a:schemeClr val="accent1">
              <a:alpha val="4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9525" cap="flat">
              <a:solidFill>
                <a:srgbClr val="4A7EBB"/>
              </a:solidFill>
              <a:prstDash val="solid"/>
              <a:round/>
            </a:ln>
          </a:left>
          <a:right>
            <a:ln w="25400" cap="flat">
              <a:solidFill>
                <a:schemeClr val="accent1"/>
              </a:solidFill>
              <a:prstDash val="solid"/>
              <a:round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9525" cap="flat">
              <a:solidFill>
                <a:srgbClr val="4A7EBB"/>
              </a:solidFill>
              <a:prstDash val="solid"/>
              <a:round/>
            </a:ln>
          </a:bottom>
          <a:insideH>
            <a:ln w="9525" cap="flat">
              <a:solidFill>
                <a:srgbClr val="4A7EBB"/>
              </a:solidFill>
              <a:prstDash val="solid"/>
              <a:round/>
            </a:ln>
          </a:insideH>
          <a:insideV>
            <a:ln w="9525" cap="flat">
              <a:solidFill>
                <a:srgbClr val="4A7EBB"/>
              </a:solidFill>
              <a:prstDash val="solid"/>
              <a:round/>
            </a:ln>
          </a:insideV>
        </a:tcBdr>
        <a:fill>
          <a:solidFill>
            <a:schemeClr val="accent1">
              <a:alpha val="40000"/>
            </a:scheme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9525" cap="flat">
              <a:solidFill>
                <a:srgbClr val="4A7EBB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solidFill>
            <a:schemeClr val="accent1">
              <a:alpha val="20000"/>
            </a:scheme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127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chemeClr val="accent1"/>
              </a:solidFill>
              <a:prstDash val="solid"/>
              <a:round/>
            </a:ln>
          </a:left>
          <a:right>
            <a:ln w="12700" cap="flat">
              <a:solidFill>
                <a:schemeClr val="accent1"/>
              </a:solidFill>
              <a:prstDash val="solid"/>
              <a:round/>
            </a:ln>
          </a:right>
          <a:top>
            <a:ln w="127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solidFill>
                <a:schemeClr val="accent1"/>
              </a:solidFill>
              <a:prstDash val="solid"/>
              <a:round/>
            </a:ln>
          </a:insideH>
          <a:insideV>
            <a:ln w="12700" cap="flat">
              <a:solidFill>
                <a:schemeClr val="accent1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6" name="Shape 1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828764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4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050877" y="1322386"/>
            <a:ext cx="10363201" cy="1470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032000" y="3326641"/>
            <a:ext cx="8534400" cy="1752601"/>
          </a:xfrm>
          <a:prstGeom prst="rect">
            <a:avLst/>
          </a:prstGeom>
        </p:spPr>
        <p:txBody>
          <a:bodyPr/>
          <a:lstStyle>
            <a:lvl1pPr marL="381000" indent="-3048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1pPr>
            <a:lvl2pPr marL="381000" indent="1778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2pPr>
            <a:lvl3pPr marL="381000" indent="6477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3pPr>
            <a:lvl4pPr marL="381000" indent="11176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4pPr>
            <a:lvl5pPr marL="381000" indent="1574800" algn="ctr">
              <a:buClrTx/>
              <a:buSzTx/>
              <a:buFontTx/>
              <a:buNone/>
              <a:defRPr sz="2000" b="1">
                <a:solidFill>
                  <a:srgbClr val="17365D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4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itle Text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1" cy="1362001"/>
          </a:xfrm>
          <a:prstGeom prst="rect">
            <a:avLst/>
          </a:prstGeom>
        </p:spPr>
        <p:txBody>
          <a:bodyPr anchor="t"/>
          <a:lstStyle>
            <a:lvl1pPr>
              <a:defRPr sz="4000"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963084" y="2906713"/>
            <a:ext cx="10363201" cy="1500301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228600" indent="4572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228600" indent="9144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228600" indent="13716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228600" indent="1828800">
              <a:buClrTx/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5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600203"/>
            <a:ext cx="5384701" cy="4526101"/>
          </a:xfrm>
          <a:prstGeom prst="rect">
            <a:avLst/>
          </a:prstGeom>
        </p:spPr>
        <p:txBody>
          <a:bodyPr/>
          <a:lstStyle>
            <a:lvl1pPr indent="-406400">
              <a:spcBef>
                <a:spcPts val="500"/>
              </a:spcBef>
              <a:buSzPts val="2800"/>
              <a:defRPr sz="2800"/>
            </a:lvl1pPr>
            <a:lvl2pPr marL="977900" indent="-444500">
              <a:spcBef>
                <a:spcPts val="500"/>
              </a:spcBef>
              <a:buSzPts val="2800"/>
              <a:defRPr sz="2800"/>
            </a:lvl2pPr>
            <a:lvl3pPr marL="1513839" indent="-497839">
              <a:spcBef>
                <a:spcPts val="500"/>
              </a:spcBef>
              <a:buSzPts val="2800"/>
              <a:defRPr sz="2800"/>
            </a:lvl3pPr>
            <a:lvl4pPr marL="2019300" indent="-533400">
              <a:spcBef>
                <a:spcPts val="500"/>
              </a:spcBef>
              <a:buSzPts val="2800"/>
              <a:defRPr sz="2800"/>
            </a:lvl4pPr>
            <a:lvl5pPr marL="2476500" indent="-533400">
              <a:spcBef>
                <a:spcPts val="500"/>
              </a:spcBef>
              <a:buSzPts val="2800"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Google Shape;34;p5"/>
          <p:cNvSpPr txBox="1">
            <a:spLocks noGrp="1"/>
          </p:cNvSpPr>
          <p:nvPr>
            <p:ph type="body" sz="half" idx="21"/>
          </p:nvPr>
        </p:nvSpPr>
        <p:spPr>
          <a:xfrm>
            <a:off x="6197599" y="1600202"/>
            <a:ext cx="5384702" cy="4526102"/>
          </a:xfrm>
          <a:prstGeom prst="rect">
            <a:avLst/>
          </a:prstGeom>
        </p:spPr>
        <p:txBody>
          <a:bodyPr/>
          <a:lstStyle/>
          <a:p>
            <a:pPr indent="-406400">
              <a:spcBef>
                <a:spcPts val="500"/>
              </a:spcBef>
              <a:buSzPts val="2800"/>
              <a:defRPr sz="2800"/>
            </a:pPr>
            <a:endParaRPr/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7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itle Text"/>
          <p:cNvSpPr txBox="1">
            <a:spLocks noGrp="1"/>
          </p:cNvSpPr>
          <p:nvPr>
            <p:ph type="title"/>
          </p:nvPr>
        </p:nvSpPr>
        <p:spPr>
          <a:xfrm>
            <a:off x="859367" y="304800"/>
            <a:ext cx="10668001" cy="487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5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800" cy="639901"/>
          </a:xfrm>
          <a:prstGeom prst="rect">
            <a:avLst/>
          </a:prstGeom>
        </p:spPr>
        <p:txBody>
          <a:bodyPr anchor="b"/>
          <a:lstStyle>
            <a:lvl1pPr marL="228600" indent="0">
              <a:buClrTx/>
              <a:buSzTx/>
              <a:buFontTx/>
              <a:buNone/>
              <a:defRPr b="1"/>
            </a:lvl1pPr>
            <a:lvl2pPr marL="228600" indent="457200">
              <a:buClrTx/>
              <a:buSzTx/>
              <a:buFontTx/>
              <a:buNone/>
              <a:defRPr b="1"/>
            </a:lvl2pPr>
            <a:lvl3pPr marL="228600" indent="914400">
              <a:buClrTx/>
              <a:buSzTx/>
              <a:buFontTx/>
              <a:buNone/>
              <a:defRPr b="1"/>
            </a:lvl3pPr>
            <a:lvl4pPr marL="228600" indent="1371600">
              <a:buClrTx/>
              <a:buSzTx/>
              <a:buFontTx/>
              <a:buNone/>
              <a:defRPr b="1"/>
            </a:lvl4pPr>
            <a:lvl5pPr marL="228600" indent="1828800">
              <a:buClrTx/>
              <a:buSzTx/>
              <a:buFontTx/>
              <a:buNone/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0" name="Google Shape;41;p6"/>
          <p:cNvSpPr txBox="1">
            <a:spLocks noGrp="1"/>
          </p:cNvSpPr>
          <p:nvPr>
            <p:ph type="body" sz="half" idx="21"/>
          </p:nvPr>
        </p:nvSpPr>
        <p:spPr>
          <a:xfrm>
            <a:off x="609599" y="2174875"/>
            <a:ext cx="5386802" cy="39513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1" name="Google Shape;42;p6"/>
          <p:cNvSpPr txBox="1">
            <a:spLocks noGrp="1"/>
          </p:cNvSpPr>
          <p:nvPr>
            <p:ph type="body" sz="quarter" idx="22"/>
          </p:nvPr>
        </p:nvSpPr>
        <p:spPr>
          <a:xfrm>
            <a:off x="6193368" y="1535112"/>
            <a:ext cx="5388901" cy="639901"/>
          </a:xfrm>
          <a:prstGeom prst="rect">
            <a:avLst/>
          </a:prstGeom>
        </p:spPr>
        <p:txBody>
          <a:bodyPr anchor="b"/>
          <a:lstStyle/>
          <a:p>
            <a:pPr marL="228600" indent="0">
              <a:buClrTx/>
              <a:buSzTx/>
              <a:buFontTx/>
              <a:buNone/>
              <a:defRPr b="1"/>
            </a:pPr>
            <a:endParaRPr/>
          </a:p>
        </p:txBody>
      </p:sp>
      <p:sp>
        <p:nvSpPr>
          <p:cNvPr id="62" name="Google Shape;43;p6"/>
          <p:cNvSpPr txBox="1">
            <a:spLocks noGrp="1"/>
          </p:cNvSpPr>
          <p:nvPr>
            <p:ph type="body" sz="half" idx="23"/>
          </p:nvPr>
        </p:nvSpPr>
        <p:spPr>
          <a:xfrm>
            <a:off x="6193368" y="2174875"/>
            <a:ext cx="5388901" cy="39513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71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pic>
        <p:nvPicPr>
          <p:cNvPr id="73" name="Google Shape;52;p7" descr="Google Shape;52;p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208" y="139873"/>
            <a:ext cx="9686795" cy="698327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2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1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02" cy="1162200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1" cy="5853001"/>
          </a:xfrm>
          <a:prstGeom prst="rect">
            <a:avLst/>
          </a:prstGeom>
        </p:spPr>
        <p:txBody>
          <a:bodyPr/>
          <a:lstStyle>
            <a:lvl1pPr indent="-431800">
              <a:spcBef>
                <a:spcPts val="600"/>
              </a:spcBef>
              <a:buSzPts val="3200"/>
              <a:defRPr sz="3200"/>
            </a:lvl1pPr>
            <a:lvl2pPr marL="972457" indent="-464457">
              <a:spcBef>
                <a:spcPts val="600"/>
              </a:spcBef>
              <a:buSzPts val="3200"/>
              <a:defRPr sz="3200"/>
            </a:lvl2pPr>
            <a:lvl3pPr marL="1498600" indent="-508000">
              <a:spcBef>
                <a:spcPts val="600"/>
              </a:spcBef>
              <a:buSzPts val="3200"/>
              <a:defRPr sz="3200"/>
            </a:lvl3pPr>
            <a:lvl4pPr marL="2042160" indent="-568960">
              <a:spcBef>
                <a:spcPts val="600"/>
              </a:spcBef>
              <a:buSzPts val="3200"/>
              <a:defRPr sz="3200"/>
            </a:lvl4pPr>
            <a:lvl5pPr marL="2499360" indent="-568960">
              <a:spcBef>
                <a:spcPts val="600"/>
              </a:spcBef>
              <a:buSzPts val="3200"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Google Shape;60;p9"/>
          <p:cNvSpPr txBox="1">
            <a:spLocks noGrp="1"/>
          </p:cNvSpPr>
          <p:nvPr>
            <p:ph type="body" sz="half" idx="21"/>
          </p:nvPr>
        </p:nvSpPr>
        <p:spPr>
          <a:xfrm>
            <a:off x="609601" y="1435102"/>
            <a:ext cx="4011002" cy="4691102"/>
          </a:xfrm>
          <a:prstGeom prst="rect">
            <a:avLst/>
          </a:prstGeom>
        </p:spPr>
        <p:txBody>
          <a:bodyPr/>
          <a:lstStyle/>
          <a:p>
            <a:pPr marL="228600" indent="0">
              <a:spcBef>
                <a:spcPts val="200"/>
              </a:spcBef>
              <a:buClrTx/>
              <a:buSzTx/>
              <a:buFontTx/>
              <a:buNone/>
              <a:defRPr sz="1400"/>
            </a:pPr>
            <a:endParaRPr/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3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itle Text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01"/>
          </a:xfrm>
          <a:prstGeom prst="rect">
            <a:avLst/>
          </a:prstGeom>
        </p:spPr>
        <p:txBody>
          <a:bodyPr anchor="b"/>
          <a:lstStyle>
            <a:lvl1pPr>
              <a:defRPr sz="2000"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5" name="Google Shape;66;p10"/>
          <p:cNvSpPr>
            <a:spLocks noGrp="1"/>
          </p:cNvSpPr>
          <p:nvPr>
            <p:ph type="pic" sz="half" idx="21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9716" y="5367337"/>
            <a:ext cx="7315201" cy="804901"/>
          </a:xfrm>
          <a:prstGeom prst="rect">
            <a:avLst/>
          </a:prstGeom>
        </p:spPr>
        <p:txBody>
          <a:bodyPr/>
          <a:lstStyle>
            <a:lvl1pPr marL="228600" indent="0">
              <a:spcBef>
                <a:spcPts val="200"/>
              </a:spcBef>
              <a:buClrTx/>
              <a:buSzTx/>
              <a:buFontTx/>
              <a:buNone/>
              <a:defRPr sz="1400"/>
            </a:lvl1pPr>
            <a:lvl2pPr marL="228600" indent="457200">
              <a:spcBef>
                <a:spcPts val="200"/>
              </a:spcBef>
              <a:buClrTx/>
              <a:buSzTx/>
              <a:buFontTx/>
              <a:buNone/>
              <a:defRPr sz="1400"/>
            </a:lvl2pPr>
            <a:lvl3pPr marL="228600" indent="914400">
              <a:spcBef>
                <a:spcPts val="200"/>
              </a:spcBef>
              <a:buClrTx/>
              <a:buSzTx/>
              <a:buFontTx/>
              <a:buNone/>
              <a:defRPr sz="1400"/>
            </a:lvl3pPr>
            <a:lvl4pPr marL="228600" indent="1371600">
              <a:spcBef>
                <a:spcPts val="200"/>
              </a:spcBef>
              <a:buClrTx/>
              <a:buSzTx/>
              <a:buFontTx/>
              <a:buNone/>
              <a:defRPr sz="1400"/>
            </a:lvl4pPr>
            <a:lvl5pPr marL="228600" indent="1828800">
              <a:spcBef>
                <a:spcPts val="200"/>
              </a:spcBef>
              <a:buClrTx/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17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500"/>
            <a:ext cx="4953000" cy="106680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6" name="Google Shape;12;p1" descr="Google Shape;12;p1"/>
          <p:cNvPicPr>
            <a:picLocks noChangeAspect="1"/>
          </p:cNvPicPr>
          <p:nvPr/>
        </p:nvPicPr>
        <p:blipFill>
          <a:blip r:embed="rId2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itle Text"/>
          <p:cNvSpPr txBox="1">
            <a:spLocks noGrp="1"/>
          </p:cNvSpPr>
          <p:nvPr>
            <p:ph type="title"/>
          </p:nvPr>
        </p:nvSpPr>
        <p:spPr>
          <a:xfrm rot="5400000">
            <a:off x="7285049" y="1828791"/>
            <a:ext cx="5851501" cy="27432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idx="1"/>
          </p:nvPr>
        </p:nvSpPr>
        <p:spPr>
          <a:xfrm rot="5400000">
            <a:off x="1696999" y="-812860"/>
            <a:ext cx="5851501" cy="8026501"/>
          </a:xfrm>
          <a:prstGeom prst="rect">
            <a:avLst/>
          </a:prstGeom>
        </p:spPr>
        <p:txBody>
          <a:bodyPr/>
          <a:lstStyle>
            <a:lvl1pPr indent="-342900">
              <a:spcBef>
                <a:spcPts val="300"/>
              </a:spcBef>
            </a:lvl1pPr>
            <a:lvl2pPr marL="982980" indent="-411480">
              <a:spcBef>
                <a:spcPts val="300"/>
              </a:spcBef>
            </a:lvl2pPr>
            <a:lvl3pPr>
              <a:spcBef>
                <a:spcPts val="300"/>
              </a:spcBef>
            </a:lvl3pPr>
            <a:lvl4pPr marL="2000250" indent="-514350">
              <a:spcBef>
                <a:spcPts val="300"/>
              </a:spcBef>
            </a:lvl4pPr>
            <a:lvl5pPr marL="2457450" indent="-514350">
              <a:spcBef>
                <a:spcPts val="300"/>
              </a:spcBef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1"/>
          <p:cNvSpPr/>
          <p:nvPr/>
        </p:nvSpPr>
        <p:spPr>
          <a:xfrm>
            <a:off x="812800" y="914400"/>
            <a:ext cx="10668001" cy="0"/>
          </a:xfrm>
          <a:prstGeom prst="line">
            <a:avLst/>
          </a:prstGeom>
          <a:ln w="57150">
            <a:solidFill>
              <a:srgbClr val="000000"/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" name="Google Shape;12;p1" descr="Google Shape;12;p1"/>
          <p:cNvPicPr>
            <a:picLocks noChangeAspect="1"/>
          </p:cNvPicPr>
          <p:nvPr/>
        </p:nvPicPr>
        <p:blipFill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84625" y="6397953"/>
            <a:ext cx="297875" cy="281901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17365D"/>
          </a:solidFill>
          <a:uFillTx/>
          <a:latin typeface="Verdana"/>
          <a:ea typeface="Verdana"/>
          <a:cs typeface="Verdana"/>
          <a:sym typeface="Verdana"/>
        </a:defRPr>
      </a:lvl9pPr>
    </p:titleStyle>
    <p:bodyStyle>
      <a:lvl1pPr marL="457200" marR="0" indent="-381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1pPr>
      <a:lvl2pPr marL="985519" marR="0" indent="-42671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2pPr>
      <a:lvl3pPr marL="1485900" marR="0" indent="-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3pPr>
      <a:lvl4pPr marL="19939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–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4pPr>
      <a:lvl5pPr marL="2451100" marR="0" indent="-4953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»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5pPr>
      <a:lvl6pPr marL="28117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6pPr>
      <a:lvl7pPr marL="32689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7pPr>
      <a:lvl8pPr marL="37261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8pPr>
      <a:lvl9pPr marL="4183379" marR="0" indent="-411479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>
          <a:srgbClr val="000000"/>
        </a:buClr>
        <a:buSzPts val="2400"/>
        <a:buFont typeface="Arial"/>
        <a:buChar char="•"/>
        <a:tabLst/>
        <a:defRPr sz="2400" b="0" i="0" u="none" strike="noStrike" cap="none" spc="0" baseline="0">
          <a:solidFill>
            <a:srgbClr val="000000"/>
          </a:solidFill>
          <a:uFillTx/>
          <a:latin typeface="Verdana"/>
          <a:ea typeface="Verdana"/>
          <a:cs typeface="Verdana"/>
          <a:sym typeface="Verdana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Verdan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odedbyaditi/substation-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87;p13"/>
          <p:cNvSpPr txBox="1">
            <a:spLocks noGrp="1"/>
          </p:cNvSpPr>
          <p:nvPr>
            <p:ph type="ctrTitle"/>
          </p:nvPr>
        </p:nvSpPr>
        <p:spPr>
          <a:xfrm>
            <a:off x="790468" y="1069101"/>
            <a:ext cx="10363201" cy="962899"/>
          </a:xfrm>
          <a:prstGeom prst="rect">
            <a:avLst/>
          </a:prstGeom>
        </p:spPr>
        <p:txBody>
          <a:bodyPr/>
          <a:lstStyle>
            <a:lvl1pPr marL="190500" indent="-38100" algn="ctr">
              <a:defRPr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 </a:t>
            </a:r>
            <a:r>
              <a:rPr lang="en-US" dirty="0" smtClean="0"/>
              <a:t>Substation AI Compliance Assistant</a:t>
            </a:r>
            <a:endParaRPr dirty="0"/>
          </a:p>
        </p:txBody>
      </p:sp>
      <p:sp>
        <p:nvSpPr>
          <p:cNvPr id="139" name="Google Shape;88;p13"/>
          <p:cNvSpPr txBox="1">
            <a:spLocks noGrp="1"/>
          </p:cNvSpPr>
          <p:nvPr>
            <p:ph type="subTitle" sz="quarter" idx="1"/>
          </p:nvPr>
        </p:nvSpPr>
        <p:spPr>
          <a:xfrm>
            <a:off x="790468" y="2045352"/>
            <a:ext cx="4391131" cy="552301"/>
          </a:xfrm>
          <a:prstGeom prst="rect">
            <a:avLst/>
          </a:prstGeom>
        </p:spPr>
        <p:txBody>
          <a:bodyPr/>
          <a:lstStyle/>
          <a:p>
            <a:pPr marL="0" indent="0" algn="l">
              <a:spcBef>
                <a:spcPts val="0"/>
              </a:spcBef>
              <a:defRPr sz="1800" b="0" u="sng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Batch Number: </a:t>
            </a:r>
            <a:r>
              <a:rPr u="none" dirty="0" smtClean="0"/>
              <a:t>C</a:t>
            </a:r>
            <a:r>
              <a:rPr lang="en-US" u="none" dirty="0" smtClean="0"/>
              <a:t>SE_69</a:t>
            </a:r>
            <a:endParaRPr u="none" dirty="0"/>
          </a:p>
        </p:txBody>
      </p:sp>
      <p:sp>
        <p:nvSpPr>
          <p:cNvPr id="140" name="Google Shape;90;p13"/>
          <p:cNvSpPr txBox="1"/>
          <p:nvPr/>
        </p:nvSpPr>
        <p:spPr>
          <a:xfrm>
            <a:off x="6723425" y="2235289"/>
            <a:ext cx="5422851" cy="2020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pPr defTabSz="795527">
              <a:defRPr sz="1566" u="sng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Under the Supervision of,</a:t>
            </a:r>
          </a:p>
          <a:p>
            <a:pPr algn="ctr" defTabSz="795527">
              <a:spcBef>
                <a:spcPts val="300"/>
              </a:spcBef>
              <a:defRPr sz="174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endParaRPr dirty="0"/>
          </a:p>
          <a:p>
            <a:pPr lvl="1" defTabSz="795527">
              <a:spcBef>
                <a:spcPts val="200"/>
              </a:spcBef>
              <a:defRPr sz="156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 err="1" smtClean="0"/>
              <a:t>Mr.</a:t>
            </a:r>
            <a:r>
              <a:rPr lang="en-US" dirty="0" err="1" smtClean="0"/>
              <a:t>Laxman</a:t>
            </a:r>
            <a:endParaRPr dirty="0"/>
          </a:p>
          <a:p>
            <a:pPr lvl="1" defTabSz="795527">
              <a:spcBef>
                <a:spcPts val="200"/>
              </a:spcBef>
              <a:defRPr sz="156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lang="en-US" dirty="0" smtClean="0"/>
              <a:t>Professor of Practice</a:t>
            </a:r>
            <a:endParaRPr dirty="0"/>
          </a:p>
          <a:p>
            <a:pPr lvl="1" defTabSz="795527">
              <a:spcBef>
                <a:spcPts val="200"/>
              </a:spcBef>
              <a:defRPr sz="156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School of Computer Science and Engineering</a:t>
            </a:r>
          </a:p>
          <a:p>
            <a:pPr lvl="1" defTabSz="795527">
              <a:spcBef>
                <a:spcPts val="200"/>
              </a:spcBef>
              <a:defRPr sz="1566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Presidency University</a:t>
            </a:r>
          </a:p>
        </p:txBody>
      </p:sp>
      <p:graphicFrame>
        <p:nvGraphicFramePr>
          <p:cNvPr id="141" name="Google Shape;89;p13"/>
          <p:cNvGraphicFramePr/>
          <p:nvPr>
            <p:extLst>
              <p:ext uri="{D42A27DB-BD31-4B8C-83A1-F6EECF244321}">
                <p14:modId xmlns:p14="http://schemas.microsoft.com/office/powerpoint/2010/main" val="1366995600"/>
              </p:ext>
            </p:extLst>
          </p:nvPr>
        </p:nvGraphicFramePr>
        <p:xfrm>
          <a:off x="553346" y="2721840"/>
          <a:ext cx="5418674" cy="1463080"/>
        </p:xfrm>
        <a:graphic>
          <a:graphicData uri="http://schemas.openxmlformats.org/drawingml/2006/table">
            <a:tbl>
              <a:tblPr firstRow="1">
                <a:tableStyleId>{4C3C2611-4C71-4FC5-86AE-919BDF0F9419}</a:tableStyleId>
              </a:tblPr>
              <a:tblGrid>
                <a:gridCol w="2085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33367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lvl="1" algn="ctr">
                        <a:defRPr sz="1800"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rPr dirty="0"/>
                        <a:t>Roll Number</a:t>
                      </a:r>
                    </a:p>
                  </a:txBody>
                  <a:tcPr marL="45725" marR="45725" marT="45725" marB="45725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>
                          <a:solidFill>
                            <a:srgbClr val="17365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Student Name</a:t>
                      </a:r>
                    </a:p>
                  </a:txBody>
                  <a:tcPr marL="45725" marR="45725" marT="45725" marB="45725" anchor="ctr" horzOverflow="overflow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</a:t>
                      </a:r>
                      <a:r>
                        <a:rPr lang="en-US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SE0295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5" marR="45725" marT="45725" marB="45725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dirty="0" err="1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Shreeansh</a:t>
                      </a:r>
                      <a:r>
                        <a:rPr lang="en-US" baseline="0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US" baseline="0" dirty="0" err="1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Sachan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5" marR="45725" marT="45725" marB="45725" anchor="ctr" horzOverflow="overflow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</a:t>
                      </a:r>
                      <a:r>
                        <a:rPr lang="en-US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SE0159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5" marR="45725" marT="45725" marB="45725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Raj</a:t>
                      </a:r>
                      <a:r>
                        <a:rPr lang="en-US" baseline="0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Prasad </a:t>
                      </a:r>
                      <a:r>
                        <a:rPr lang="en-US" baseline="0" dirty="0" err="1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Singha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5" marR="45725" marT="45725" marB="45725" anchor="ctr" horzOverflow="overflow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</a:t>
                      </a:r>
                      <a:r>
                        <a:rPr lang="en-US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SE0148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5" marR="45725" marT="45725" marB="45725" anchor="ctr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US" dirty="0" err="1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Aditi</a:t>
                      </a:r>
                      <a:r>
                        <a:rPr lang="en-US" baseline="0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US" baseline="0" dirty="0" err="1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Pravin</a:t>
                      </a:r>
                      <a:r>
                        <a:rPr lang="en-US" baseline="0" dirty="0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</a:t>
                      </a:r>
                      <a:r>
                        <a:rPr lang="en-US" baseline="0" dirty="0" err="1" smtClean="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Nimje</a:t>
                      </a:r>
                      <a:endParaRPr dirty="0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45725" marR="45725" marT="45725" marB="45725" anchor="ctr" horzOverflow="overflow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2" name="Google Shape;91;p13"/>
          <p:cNvSpPr txBox="1"/>
          <p:nvPr/>
        </p:nvSpPr>
        <p:spPr>
          <a:xfrm>
            <a:off x="2877949" y="136440"/>
            <a:ext cx="5407525" cy="68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 algn="ctr"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CSE7101- Capstone Project</a:t>
            </a:r>
          </a:p>
          <a:p>
            <a:pPr algn="ctr">
              <a:spcBef>
                <a:spcPts val="300"/>
              </a:spcBef>
              <a:defRPr sz="1800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Review-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143" name="Google Shape;91;p13"/>
          <p:cNvSpPr txBox="1"/>
          <p:nvPr/>
        </p:nvSpPr>
        <p:spPr>
          <a:xfrm>
            <a:off x="758956" y="4661915"/>
            <a:ext cx="12158467" cy="120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/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Name of the Program: </a:t>
            </a:r>
            <a:r>
              <a:rPr dirty="0">
                <a:solidFill>
                  <a:srgbClr val="FF0000"/>
                </a:solidFill>
              </a:rPr>
              <a:t>Bachelor of Technology</a:t>
            </a: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Name of the </a:t>
            </a:r>
            <a:r>
              <a:rPr dirty="0" err="1"/>
              <a:t>HoD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Dr. </a:t>
            </a:r>
            <a:r>
              <a:rPr lang="en-US" sz="1800" dirty="0" smtClean="0">
                <a:solidFill>
                  <a:srgbClr val="FF0000"/>
                </a:solidFill>
                <a:sym typeface="Cambria"/>
              </a:rPr>
              <a:t>Asif </a:t>
            </a:r>
            <a:r>
              <a:rPr lang="en-US" sz="1800" dirty="0">
                <a:solidFill>
                  <a:srgbClr val="FF0000"/>
                </a:solidFill>
                <a:sym typeface="Cambria"/>
              </a:rPr>
              <a:t>Mohamed H B </a:t>
            </a:r>
            <a:endParaRPr dirty="0">
              <a:solidFill>
                <a:srgbClr val="FF0000"/>
              </a:solidFill>
            </a:endParaRP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Name of the Program Project Coordinator: </a:t>
            </a:r>
            <a:r>
              <a:rPr lang="en-US" dirty="0" smtClean="0">
                <a:solidFill>
                  <a:srgbClr val="FF0000"/>
                </a:solidFill>
              </a:rPr>
              <a:t>Dr. </a:t>
            </a:r>
            <a:r>
              <a:rPr lang="en-US" dirty="0" err="1" smtClean="0">
                <a:solidFill>
                  <a:srgbClr val="FF0000"/>
                </a:solidFill>
              </a:rPr>
              <a:t>Jayavadivel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Ravi</a:t>
            </a:r>
            <a:endParaRPr dirty="0">
              <a:solidFill>
                <a:srgbClr val="FF0000"/>
              </a:solidFill>
            </a:endParaRPr>
          </a:p>
          <a:p>
            <a:pPr>
              <a:defRPr sz="1800">
                <a:solidFill>
                  <a:schemeClr val="accent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Name of the School Project Coordinators: </a:t>
            </a:r>
            <a:r>
              <a:rPr dirty="0">
                <a:solidFill>
                  <a:srgbClr val="000000"/>
                </a:solidFill>
              </a:rPr>
              <a:t>Dr. </a:t>
            </a:r>
            <a:r>
              <a:rPr dirty="0" err="1">
                <a:solidFill>
                  <a:srgbClr val="000000"/>
                </a:solidFill>
              </a:rPr>
              <a:t>Sampath</a:t>
            </a:r>
            <a:r>
              <a:rPr dirty="0">
                <a:solidFill>
                  <a:srgbClr val="000000"/>
                </a:solidFill>
              </a:rPr>
              <a:t> A K , Dr. </a:t>
            </a:r>
            <a:r>
              <a:rPr dirty="0" err="1">
                <a:solidFill>
                  <a:srgbClr val="000000"/>
                </a:solidFill>
              </a:rPr>
              <a:t>Geetha</a:t>
            </a:r>
            <a:r>
              <a:rPr dirty="0">
                <a:solidFill>
                  <a:srgbClr val="000000"/>
                </a:solidFill>
              </a:rPr>
              <a:t> A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rPr dirty="0"/>
              <a:t>Problem Statement Number: </a:t>
            </a:r>
            <a:r>
              <a:rPr lang="en-US" dirty="0"/>
              <a:t>PSCS_67</a:t>
            </a:r>
            <a:endParaRPr dirty="0"/>
          </a:p>
        </p:txBody>
      </p:sp>
      <p:sp>
        <p:nvSpPr>
          <p:cNvPr id="146" name="Google Shape;97;p14"/>
          <p:cNvSpPr txBox="1">
            <a:spLocks noGrp="1"/>
          </p:cNvSpPr>
          <p:nvPr>
            <p:ph type="body" idx="1"/>
          </p:nvPr>
        </p:nvSpPr>
        <p:spPr>
          <a:xfrm>
            <a:off x="675640" y="1143000"/>
            <a:ext cx="10668001" cy="4953001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190500" indent="-38100">
              <a:spcBef>
                <a:spcPts val="0"/>
              </a:spcBef>
              <a:buSzTx/>
              <a:buNone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Problem Tittle: </a:t>
            </a:r>
            <a:r>
              <a:rPr lang="fr-FR" dirty="0"/>
              <a:t>Intelligent </a:t>
            </a:r>
            <a:r>
              <a:rPr lang="fr-FR" dirty="0" err="1"/>
              <a:t>Chatbot</a:t>
            </a:r>
            <a:r>
              <a:rPr lang="fr-FR" dirty="0"/>
              <a:t> for </a:t>
            </a:r>
            <a:r>
              <a:rPr lang="fr-FR" dirty="0" err="1"/>
              <a:t>Substation</a:t>
            </a:r>
            <a:r>
              <a:rPr lang="fr-FR" dirty="0"/>
              <a:t> </a:t>
            </a:r>
            <a:r>
              <a:rPr lang="fr-FR" dirty="0" err="1" smtClean="0"/>
              <a:t>Asset</a:t>
            </a:r>
            <a:r>
              <a:rPr lang="fr-FR" dirty="0" smtClean="0"/>
              <a:t> Maintenance</a:t>
            </a:r>
          </a:p>
          <a:p>
            <a:pPr marL="190500" indent="-38100">
              <a:spcBef>
                <a:spcPts val="0"/>
              </a:spcBef>
              <a:buSzTx/>
              <a:buNone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dirty="0" smtClean="0"/>
              <a:t>Organization</a:t>
            </a:r>
            <a:r>
              <a:rPr dirty="0"/>
              <a:t>: </a:t>
            </a:r>
            <a:r>
              <a:rPr lang="en-US" dirty="0"/>
              <a:t>Ministry of Power</a:t>
            </a:r>
          </a:p>
          <a:p>
            <a:pPr marL="190500" indent="-38100">
              <a:spcBef>
                <a:spcPts val="0"/>
              </a:spcBef>
              <a:buSzTx/>
              <a:buNone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dirty="0" smtClean="0"/>
              <a:t>Category</a:t>
            </a:r>
            <a:r>
              <a:rPr dirty="0"/>
              <a:t>  : </a:t>
            </a:r>
            <a:r>
              <a:rPr lang="en-US" dirty="0"/>
              <a:t>Software</a:t>
            </a:r>
          </a:p>
          <a:p>
            <a:pPr marL="190500" indent="-38100">
              <a:spcBef>
                <a:spcPts val="0"/>
              </a:spcBef>
              <a:buSzTx/>
              <a:buNone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dirty="0" smtClean="0"/>
              <a:t>Problem </a:t>
            </a:r>
            <a:r>
              <a:rPr dirty="0"/>
              <a:t>Description: </a:t>
            </a:r>
          </a:p>
          <a:p>
            <a:pPr algn="just">
              <a:buFont typeface="Courier New"/>
              <a:buChar char="o"/>
            </a:pPr>
            <a:r>
              <a:rPr lang="en-US" sz="2000" b="1" dirty="0" smtClean="0">
                <a:solidFill>
                  <a:schemeClr val="tx1"/>
                </a:solidFill>
                <a:latin typeface="Times New Roman"/>
                <a:ea typeface="Cambria"/>
                <a:cs typeface="Arial"/>
              </a:rPr>
              <a:t>Substation </a:t>
            </a:r>
            <a:r>
              <a:rPr lang="en-US" sz="2000" b="1" dirty="0">
                <a:solidFill>
                  <a:schemeClr val="tx1"/>
                </a:solidFill>
                <a:latin typeface="Times New Roman"/>
                <a:ea typeface="Cambria"/>
                <a:cs typeface="Arial"/>
              </a:rPr>
              <a:t>maintenance relies on vast, fragmented manuals for complex equipment procedures.</a:t>
            </a:r>
            <a:endParaRPr lang="en-US" sz="2000" b="1" dirty="0">
              <a:solidFill>
                <a:schemeClr val="tx1"/>
              </a:solidFill>
              <a:latin typeface="Times New Roman"/>
              <a:cs typeface="Arial"/>
            </a:endParaRPr>
          </a:p>
          <a:p>
            <a:pPr algn="just">
              <a:buFont typeface="Courier New"/>
              <a:buChar char="o"/>
            </a:pPr>
            <a:r>
              <a:rPr lang="en-US" sz="2000" b="1" dirty="0">
                <a:solidFill>
                  <a:schemeClr val="tx1"/>
                </a:solidFill>
                <a:latin typeface="Times New Roman"/>
                <a:ea typeface="Cambria"/>
                <a:cs typeface="Arial"/>
              </a:rPr>
              <a:t>This makes it difficult for technicians to quickly find and utilize critical information.</a:t>
            </a:r>
            <a:endParaRPr lang="en-US" sz="2000" b="1" dirty="0">
              <a:solidFill>
                <a:schemeClr val="tx1"/>
              </a:solidFill>
              <a:latin typeface="Times New Roman"/>
              <a:cs typeface="Arial"/>
            </a:endParaRPr>
          </a:p>
          <a:p>
            <a:pPr algn="just">
              <a:buFont typeface="Courier New"/>
              <a:buChar char="o"/>
            </a:pPr>
            <a:r>
              <a:rPr lang="en-US" sz="2000" b="1" dirty="0">
                <a:solidFill>
                  <a:schemeClr val="tx1"/>
                </a:solidFill>
                <a:latin typeface="Times New Roman"/>
                <a:ea typeface="Cambria"/>
                <a:cs typeface="Arial"/>
              </a:rPr>
              <a:t>Current keyword-based searches lack semantic understanding, leading to imprecise and irrelevant results.</a:t>
            </a:r>
            <a:endParaRPr lang="en-US" sz="2000" b="1" dirty="0">
              <a:solidFill>
                <a:schemeClr val="tx1"/>
              </a:solidFill>
              <a:latin typeface="Times New Roman"/>
              <a:cs typeface="Arial"/>
            </a:endParaRPr>
          </a:p>
          <a:p>
            <a:pPr algn="just">
              <a:buFont typeface="Courier New"/>
              <a:buChar char="o"/>
            </a:pPr>
            <a:r>
              <a:rPr lang="en-US" sz="2000" b="1" dirty="0">
                <a:solidFill>
                  <a:schemeClr val="tx1"/>
                </a:solidFill>
                <a:latin typeface="Times New Roman"/>
                <a:ea typeface="Cambria"/>
                <a:cs typeface="Arial"/>
              </a:rPr>
              <a:t>Technical documentation uses specialized jargon and complex structures, posing significant </a:t>
            </a:r>
            <a:r>
              <a:rPr lang="en-US" sz="2000" b="1" dirty="0">
                <a:solidFill>
                  <a:schemeClr val="tx1"/>
                </a:solidFill>
                <a:latin typeface="Times New Roman"/>
                <a:cs typeface="Arial"/>
              </a:rPr>
              <a:t>NLP challenges.</a:t>
            </a:r>
          </a:p>
          <a:p>
            <a:pPr algn="just">
              <a:buFont typeface="Courier New"/>
              <a:buChar char="o"/>
            </a:pPr>
            <a:r>
              <a:rPr lang="en-US" sz="2000" b="1" dirty="0">
                <a:solidFill>
                  <a:schemeClr val="tx1"/>
                </a:solidFill>
                <a:latin typeface="Times New Roman"/>
                <a:cs typeface="Arial"/>
              </a:rPr>
              <a:t>Critical data like "acceptable limits" are often dispersed or missing, hindering accurate decision-making.</a:t>
            </a:r>
            <a:endParaRPr lang="en-GB" sz="2000" b="1" dirty="0">
              <a:solidFill>
                <a:schemeClr val="tx1"/>
              </a:solidFill>
              <a:latin typeface="Times New Roman"/>
              <a:cs typeface="Arial"/>
            </a:endParaRPr>
          </a:p>
          <a:p>
            <a:pPr algn="just">
              <a:buFont typeface="Courier New"/>
              <a:buChar char="o"/>
            </a:pPr>
            <a:r>
              <a:rPr lang="en-US" sz="2000" b="1" dirty="0">
                <a:solidFill>
                  <a:schemeClr val="tx1"/>
                </a:solidFill>
                <a:latin typeface="Times New Roman"/>
                <a:cs typeface="Arial"/>
              </a:rPr>
              <a:t>An intelligent </a:t>
            </a:r>
            <a:r>
              <a:rPr lang="en-US" sz="2000" b="1" dirty="0" err="1">
                <a:solidFill>
                  <a:schemeClr val="tx1"/>
                </a:solidFill>
                <a:latin typeface="Times New Roman"/>
                <a:cs typeface="Arial"/>
              </a:rPr>
              <a:t>chatbot</a:t>
            </a:r>
            <a:r>
              <a:rPr lang="en-US" sz="2000" b="1" dirty="0">
                <a:solidFill>
                  <a:schemeClr val="tx1"/>
                </a:solidFill>
                <a:latin typeface="Times New Roman"/>
                <a:cs typeface="Arial"/>
              </a:rPr>
              <a:t> is needed to provide precise, context-aware answers, integrating standards and safety.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Content</a:t>
            </a:r>
          </a:p>
        </p:txBody>
      </p:sp>
      <p:sp>
        <p:nvSpPr>
          <p:cNvPr id="149" name="Google Shape;97;p14"/>
          <p:cNvSpPr txBox="1">
            <a:spLocks noGrp="1"/>
          </p:cNvSpPr>
          <p:nvPr>
            <p:ph type="body" idx="1"/>
          </p:nvPr>
        </p:nvSpPr>
        <p:spPr>
          <a:xfrm>
            <a:off x="591774" y="1063936"/>
            <a:ext cx="10668001" cy="39243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Problem Statement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Abstract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Literature Survey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Objectives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Existing methods and drawbacks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Modules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Architecture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 err="1"/>
              <a:t>Pseudocode</a:t>
            </a:r>
            <a:r>
              <a:rPr dirty="0"/>
              <a:t>(Frontend)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 err="1"/>
              <a:t>Pseudocode</a:t>
            </a:r>
            <a:r>
              <a:rPr dirty="0"/>
              <a:t>(Frontend)</a:t>
            </a:r>
            <a:endParaRPr sz="608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Timeline</a:t>
            </a:r>
            <a:endParaRPr sz="570" dirty="0"/>
          </a:p>
          <a:p>
            <a:pPr marL="470534" indent="-325754" algn="just" defTabSz="868680">
              <a:lnSpc>
                <a:spcPct val="160000"/>
              </a:lnSpc>
              <a:spcBef>
                <a:spcPts val="0"/>
              </a:spcBef>
              <a:buSzPts val="1500"/>
              <a:defRPr sz="152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References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itle 1"/>
          <p:cNvSpPr txBox="1">
            <a:spLocks noGrp="1"/>
          </p:cNvSpPr>
          <p:nvPr>
            <p:ph type="title"/>
          </p:nvPr>
        </p:nvSpPr>
        <p:spPr>
          <a:xfrm>
            <a:off x="794512" y="302070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Problem Statement: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AA56549-7137-385F-BB2B-0DBAC086A5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94512" y="1350580"/>
            <a:ext cx="1059891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Statement: </a:t>
            </a:r>
            <a:r>
              <a:rPr lang="fr-FR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Intelligent </a:t>
            </a:r>
            <a:r>
              <a:rPr lang="fr-FR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Chatbot</a:t>
            </a:r>
            <a:r>
              <a:rPr lang="fr-FR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for </a:t>
            </a:r>
            <a:r>
              <a:rPr lang="fr-FR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Substation</a:t>
            </a:r>
            <a:r>
              <a:rPr lang="fr-FR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fr-FR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Asset</a:t>
            </a:r>
            <a:r>
              <a:rPr lang="fr-FR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Maintenance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Current maintenance practices rely heavily on physical manuals, static PDFs, and on-site expert supervision. This can be inefficient and prone to human error.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Recent advancements in AI and NLP have enabled the creation of conversational agents (</a:t>
            </a:r>
            <a:r>
              <a:rPr lang="en-US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chatbots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) for a variety of technical domains, but a dedicated solution for substation maintenance is a novel application.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Our project aims to bridge the gap between traditional maintenance methods and modern AI capabilities, providing a robust, accessible, and intelligent tool for technicians.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Abstract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5B9944E2-0408-13AC-5602-6697FCDDF12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812800" y="1005671"/>
            <a:ext cx="1079151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The efficient operation of modern electric grids critically depends on meticulous maintenance of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substation assets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. This project proposes a novel intelligent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chatbot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system that addresses the significant knowledge gap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in traditional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maintenance strategies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Problem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Manual information retrieval from fragmented textual documentation leads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to inefficiency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, increased downtime, and safety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risks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Objective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Develop a hybrid AI architecture combining NLP, Knowledge Graphs, and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safety logic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Approach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Fact-grounded system that ensures verifiable, traceable responses from </a:t>
            </a: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technical documentation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Impact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Enhanced operational efficiency, improved safety, and regulatory compliance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itle 1"/>
          <p:cNvSpPr txBox="1">
            <a:spLocks noGrp="1"/>
          </p:cNvSpPr>
          <p:nvPr>
            <p:ph type="title"/>
          </p:nvPr>
        </p:nvSpPr>
        <p:spPr>
          <a:xfrm>
            <a:off x="762000" y="338932"/>
            <a:ext cx="10668001" cy="4875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365760">
              <a:defRPr sz="2400" b="0">
                <a:latin typeface="Cambria"/>
                <a:ea typeface="Cambria"/>
                <a:cs typeface="Cambria"/>
                <a:sym typeface="Cambria"/>
              </a:defRPr>
            </a:pPr>
            <a:r>
              <a:t>Literature Survey</a:t>
            </a:r>
            <a:br/>
            <a:endParaRPr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62000" y="1482014"/>
            <a:ext cx="1099165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1.AI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in Compliance (Ahmad &amp; Khan, 2023): "Human-in-the-loop" AI systems can reduce compliance documentation time by up to 70% and improve safety governance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2.NLP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for Regulations (He et al., 2023): BERT-based models significantly outperform statistical methods in interpreting complex technical and legal language (e.g., equipment manuals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).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3.Knowledge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Graphs (Chen &amp; Liu, 2022): Structured graphs are essential for mapping relationships between power system faults and specific regulatory standards</a:t>
            </a: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chemeClr val="tx1"/>
                </a:solidFill>
                <a:latin typeface="Arial" panose="020B0604020202020204" pitchFamily="34" charset="0"/>
              </a:rPr>
              <a:t>4.Predictive </a:t>
            </a:r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Maintenance (Smith &amp; Jones, 2022): The industry is shifting from preventive to predictive strategies, using AI to analyze condition monitoring data (vibration, oil analysis).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itle 1"/>
          <p:cNvSpPr txBox="1">
            <a:spLocks noGrp="1"/>
          </p:cNvSpPr>
          <p:nvPr>
            <p:ph type="title"/>
          </p:nvPr>
        </p:nvSpPr>
        <p:spPr>
          <a:xfrm>
            <a:off x="812800" y="338932"/>
            <a:ext cx="10668001" cy="487501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365760">
              <a:defRPr sz="2720" b="0">
                <a:latin typeface="Cambria"/>
                <a:ea typeface="Cambria"/>
                <a:cs typeface="Cambria"/>
                <a:sym typeface="Cambria"/>
              </a:defRPr>
            </a:pPr>
            <a:r>
              <a:rPr dirty="0"/>
              <a:t>Objectives</a:t>
            </a:r>
            <a:br>
              <a:rPr dirty="0"/>
            </a:b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DA7582E-CC9C-C245-3025-B0529FDA7A8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117987" y="1477755"/>
            <a:ext cx="11248103" cy="41703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Intelligent Conversational System: </a:t>
            </a:r>
            <a:r>
              <a:rPr lang="en-US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Design a </a:t>
            </a:r>
            <a:r>
              <a:rPr lang="en-US" dirty="0" err="1">
                <a:solidFill>
                  <a:srgbClr val="1B1C1D"/>
                </a:solidFill>
                <a:latin typeface="Arial"/>
                <a:ea typeface="Cambria"/>
                <a:cs typeface="Arial"/>
              </a:rPr>
              <a:t>chatbot</a:t>
            </a:r>
            <a:r>
              <a:rPr lang="en-US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 that understands and answers complex regulatory questions using Natural Language Understanding (NLU</a:t>
            </a:r>
            <a:r>
              <a:rPr lang="en-US" dirty="0" smtClean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Compliance </a:t>
            </a:r>
            <a:r>
              <a:rPr lang="en-US" b="1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Knowledge Engineering: </a:t>
            </a:r>
            <a:r>
              <a:rPr lang="en-US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Build a structured domain model covering Indian Electricity Rules, CERC, and IEC standards</a:t>
            </a:r>
            <a:r>
              <a:rPr lang="en-US" dirty="0" smtClean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Automated </a:t>
            </a:r>
            <a:r>
              <a:rPr lang="en-US" b="1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Monitoring: </a:t>
            </a:r>
            <a:r>
              <a:rPr lang="en-US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Implement real-time compliance checks by integrating with substation operational systems</a:t>
            </a:r>
            <a:r>
              <a:rPr lang="en-US" dirty="0" smtClean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Unified </a:t>
            </a:r>
            <a:r>
              <a:rPr lang="en-US" b="1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Platform: </a:t>
            </a:r>
            <a:r>
              <a:rPr lang="en-US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Create a "Single Source of Truth" for all regulatory updates and best </a:t>
            </a:r>
            <a:r>
              <a:rPr lang="en-US" dirty="0" err="1">
                <a:solidFill>
                  <a:srgbClr val="1B1C1D"/>
                </a:solidFill>
                <a:latin typeface="Arial"/>
                <a:ea typeface="Cambria"/>
                <a:cs typeface="Arial"/>
              </a:rPr>
              <a:t>practices.Documentation</a:t>
            </a:r>
            <a:r>
              <a:rPr lang="en-US" dirty="0">
                <a:solidFill>
                  <a:srgbClr val="1B1C1D"/>
                </a:solidFill>
                <a:latin typeface="Arial"/>
                <a:ea typeface="Cambria"/>
                <a:cs typeface="Arial"/>
              </a:rPr>
              <a:t> Automation: Auto-generate audit-ready reports to reduce manual administrative effort.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indent="144779" algn="just" defTabSz="868680">
              <a:lnSpc>
                <a:spcPct val="200000"/>
              </a:lnSpc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Existing methods and drawbacks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36" y="1349405"/>
            <a:ext cx="10936527" cy="4054699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Module</a:t>
            </a:r>
          </a:p>
        </p:txBody>
      </p:sp>
      <p:sp>
        <p:nvSpPr>
          <p:cNvPr id="172" name="Text Placeholder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>
              <a:buSzTx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lang="en-US" dirty="0"/>
              <a:t>Input Processing Module: Handles user queries (text/voice) via tokenization and intent recognition</a:t>
            </a:r>
            <a:r>
              <a:rPr lang="en-US" dirty="0" smtClean="0"/>
              <a:t>.</a:t>
            </a:r>
          </a:p>
          <a:p>
            <a:pPr marL="342900" indent="-342900">
              <a:buSzTx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lang="en-US" dirty="0" smtClean="0"/>
              <a:t>NLP </a:t>
            </a:r>
            <a:r>
              <a:rPr lang="en-US" dirty="0"/>
              <a:t>Engine: Uses BERT models for semantic understanding of regulatory language</a:t>
            </a:r>
            <a:r>
              <a:rPr lang="en-US" dirty="0" smtClean="0"/>
              <a:t>.</a:t>
            </a:r>
          </a:p>
          <a:p>
            <a:pPr marL="342900" indent="-342900">
              <a:buSzTx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lang="en-US" dirty="0" smtClean="0"/>
              <a:t>Knowledge </a:t>
            </a:r>
            <a:r>
              <a:rPr lang="en-US" dirty="0"/>
              <a:t>Base: A graph database (Neo4j) containing structured regulations (IEEE, IEC, CERC</a:t>
            </a:r>
            <a:r>
              <a:rPr lang="en-US" dirty="0" smtClean="0"/>
              <a:t>).</a:t>
            </a:r>
          </a:p>
          <a:p>
            <a:pPr marL="342900" indent="-342900">
              <a:buSzTx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lang="en-US" dirty="0" smtClean="0"/>
              <a:t>Compliance </a:t>
            </a:r>
            <a:r>
              <a:rPr lang="en-US" dirty="0"/>
              <a:t>Analysis Engine: Compares real-time operational data against regulatory thresholds</a:t>
            </a:r>
            <a:r>
              <a:rPr lang="en-US" dirty="0" smtClean="0"/>
              <a:t>.</a:t>
            </a:r>
          </a:p>
          <a:p>
            <a:pPr marL="342900" indent="-342900">
              <a:buSzTx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lang="en-US" dirty="0" smtClean="0"/>
              <a:t>Risk </a:t>
            </a:r>
            <a:r>
              <a:rPr lang="en-US" dirty="0"/>
              <a:t>Assessment Module: Predicts potential hazards and assigns risk scores</a:t>
            </a:r>
            <a:r>
              <a:rPr lang="en-US" dirty="0" smtClean="0"/>
              <a:t>.</a:t>
            </a:r>
          </a:p>
          <a:p>
            <a:pPr marL="342900" indent="-342900">
              <a:buSzTx/>
              <a:defRPr sz="2000">
                <a:latin typeface="Cambria"/>
                <a:ea typeface="Cambria"/>
                <a:cs typeface="Cambria"/>
                <a:sym typeface="Cambria"/>
              </a:defRPr>
            </a:pPr>
            <a:r>
              <a:rPr lang="en-US" dirty="0" smtClean="0"/>
              <a:t>Reporting </a:t>
            </a:r>
            <a:r>
              <a:rPr lang="en-US" dirty="0"/>
              <a:t>Module: Generates visualizations and PDF compliance reports.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Architecture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56" y="1179576"/>
            <a:ext cx="5294376" cy="49011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itle 1"/>
          <p:cNvSpPr txBox="1">
            <a:spLocks noGrp="1"/>
          </p:cNvSpPr>
          <p:nvPr>
            <p:ph type="title"/>
          </p:nvPr>
        </p:nvSpPr>
        <p:spPr>
          <a:xfrm>
            <a:off x="812800" y="27449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Pseudocode(Frontend)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12800" y="1143000"/>
            <a:ext cx="7252208" cy="4953001"/>
          </a:xfrm>
        </p:spPr>
        <p:txBody>
          <a:bodyPr>
            <a:normAutofit fontScale="32500" lnSpcReduction="20000"/>
          </a:bodyPr>
          <a:lstStyle/>
          <a:p>
            <a:pPr marL="76200" indent="0">
              <a:buNone/>
            </a:pPr>
            <a:r>
              <a:rPr lang="en-US" dirty="0"/>
              <a:t>FUNCTION </a:t>
            </a:r>
            <a:r>
              <a:rPr lang="en-US" dirty="0" err="1"/>
              <a:t>HandleUserQuery</a:t>
            </a:r>
            <a:r>
              <a:rPr lang="en-US" dirty="0"/>
              <a:t>(</a:t>
            </a:r>
            <a:r>
              <a:rPr lang="en-US" dirty="0" err="1"/>
              <a:t>userInput</a:t>
            </a:r>
            <a:r>
              <a:rPr lang="en-US" dirty="0"/>
              <a:t>):</a:t>
            </a:r>
          </a:p>
          <a:p>
            <a:pPr marL="76200" indent="0">
              <a:buNone/>
            </a:pPr>
            <a:r>
              <a:rPr lang="en-US" dirty="0"/>
              <a:t>    IF </a:t>
            </a:r>
            <a:r>
              <a:rPr lang="en-US" dirty="0" err="1"/>
              <a:t>userInput</a:t>
            </a:r>
            <a:r>
              <a:rPr lang="en-US" dirty="0"/>
              <a:t> is EMPTY:</a:t>
            </a:r>
          </a:p>
          <a:p>
            <a:pPr marL="76200" indent="0">
              <a:buNone/>
            </a:pPr>
            <a:r>
              <a:rPr lang="en-US" dirty="0"/>
              <a:t>        RETURN "Please enter a question."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    // Step 1: Display user message in Chat UI</a:t>
            </a:r>
          </a:p>
          <a:p>
            <a:pPr marL="76200" indent="0">
              <a:buNone/>
            </a:pPr>
            <a:r>
              <a:rPr lang="en-US" dirty="0"/>
              <a:t>    </a:t>
            </a:r>
            <a:r>
              <a:rPr lang="en-US" dirty="0" err="1"/>
              <a:t>RenderMessage</a:t>
            </a:r>
            <a:r>
              <a:rPr lang="en-US" dirty="0"/>
              <a:t>(</a:t>
            </a:r>
            <a:r>
              <a:rPr lang="en-US" dirty="0" err="1"/>
              <a:t>userInput</a:t>
            </a:r>
            <a:r>
              <a:rPr lang="en-US" dirty="0"/>
              <a:t>, "User")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    // Step 2: Send query to Backend API</a:t>
            </a:r>
          </a:p>
          <a:p>
            <a:pPr marL="76200" indent="0">
              <a:buNone/>
            </a:pPr>
            <a:r>
              <a:rPr lang="en-US" dirty="0"/>
              <a:t>    TRY:</a:t>
            </a:r>
          </a:p>
          <a:p>
            <a:pPr marL="76200" indent="0">
              <a:buNone/>
            </a:pPr>
            <a:r>
              <a:rPr lang="en-US" dirty="0"/>
              <a:t>        response = AWAIT Fetch("/</a:t>
            </a:r>
            <a:r>
              <a:rPr lang="en-US" dirty="0" err="1"/>
              <a:t>api</a:t>
            </a:r>
            <a:r>
              <a:rPr lang="en-US" dirty="0"/>
              <a:t>/query", {</a:t>
            </a:r>
          </a:p>
          <a:p>
            <a:pPr marL="76200" indent="0">
              <a:buNone/>
            </a:pPr>
            <a:r>
              <a:rPr lang="en-US" dirty="0"/>
              <a:t>            method: "POST",</a:t>
            </a:r>
          </a:p>
          <a:p>
            <a:pPr marL="76200" indent="0">
              <a:buNone/>
            </a:pPr>
            <a:r>
              <a:rPr lang="en-US" dirty="0"/>
              <a:t>            body: { text: </a:t>
            </a:r>
            <a:r>
              <a:rPr lang="en-US" dirty="0" err="1"/>
              <a:t>userInput</a:t>
            </a:r>
            <a:r>
              <a:rPr lang="en-US" dirty="0"/>
              <a:t> }</a:t>
            </a:r>
          </a:p>
          <a:p>
            <a:pPr marL="76200" indent="0">
              <a:buNone/>
            </a:pPr>
            <a:r>
              <a:rPr lang="en-US" dirty="0"/>
              <a:t>        })</a:t>
            </a:r>
          </a:p>
          <a:p>
            <a:pPr marL="76200" indent="0">
              <a:buNone/>
            </a:pPr>
            <a:r>
              <a:rPr lang="en-US" dirty="0"/>
              <a:t>        data = </a:t>
            </a:r>
            <a:r>
              <a:rPr lang="en-US" dirty="0" err="1"/>
              <a:t>response.JSON</a:t>
            </a:r>
            <a:r>
              <a:rPr lang="en-US" dirty="0"/>
              <a:t>()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    CATCH Error:</a:t>
            </a:r>
          </a:p>
          <a:p>
            <a:pPr marL="76200" indent="0">
              <a:buNone/>
            </a:pPr>
            <a:r>
              <a:rPr lang="en-US" dirty="0"/>
              <a:t>        RETURN "System Error: Unable to reach compliance server."</a:t>
            </a:r>
          </a:p>
          <a:p>
            <a:pPr marL="76200" indent="0">
              <a:buNone/>
            </a:pPr>
            <a:endParaRPr lang="en-US" dirty="0"/>
          </a:p>
          <a:p>
            <a:pPr marL="76200" indent="0">
              <a:buNone/>
            </a:pPr>
            <a:r>
              <a:rPr lang="en-US" dirty="0"/>
              <a:t>    // Step 3: Process and Display Response</a:t>
            </a:r>
          </a:p>
          <a:p>
            <a:pPr marL="76200" indent="0">
              <a:buNone/>
            </a:pPr>
            <a:r>
              <a:rPr lang="en-US" dirty="0"/>
              <a:t>    IF </a:t>
            </a:r>
            <a:r>
              <a:rPr lang="en-US" dirty="0" err="1"/>
              <a:t>data.status</a:t>
            </a:r>
            <a:r>
              <a:rPr lang="en-US" dirty="0"/>
              <a:t> == "Success":</a:t>
            </a:r>
          </a:p>
          <a:p>
            <a:pPr marL="76200" indent="0">
              <a:buNone/>
            </a:pPr>
            <a:r>
              <a:rPr lang="en-US" dirty="0"/>
              <a:t>        // Show the answer with citations</a:t>
            </a:r>
          </a:p>
          <a:p>
            <a:pPr marL="76200" indent="0">
              <a:buNone/>
            </a:pPr>
            <a:r>
              <a:rPr lang="en-US" dirty="0"/>
              <a:t>        </a:t>
            </a:r>
            <a:r>
              <a:rPr lang="en-US" dirty="0" err="1"/>
              <a:t>RenderMessage</a:t>
            </a:r>
            <a:r>
              <a:rPr lang="en-US" dirty="0"/>
              <a:t>(</a:t>
            </a:r>
            <a:r>
              <a:rPr lang="en-US" dirty="0" err="1"/>
              <a:t>data.answer</a:t>
            </a:r>
            <a:r>
              <a:rPr lang="en-US" dirty="0"/>
              <a:t>, "Bot")</a:t>
            </a:r>
          </a:p>
          <a:p>
            <a:pPr marL="76200" indent="0">
              <a:buNone/>
            </a:pPr>
            <a:r>
              <a:rPr lang="en-US" dirty="0"/>
              <a:t>        </a:t>
            </a:r>
          </a:p>
          <a:p>
            <a:pPr marL="76200" indent="0">
              <a:buNone/>
            </a:pPr>
            <a:r>
              <a:rPr lang="en-US" dirty="0"/>
              <a:t>        // Update Dashboard if response includes live metrics</a:t>
            </a:r>
          </a:p>
          <a:p>
            <a:pPr marL="76200" indent="0">
              <a:buNone/>
            </a:pPr>
            <a:r>
              <a:rPr lang="en-US" dirty="0"/>
              <a:t>        IF </a:t>
            </a:r>
            <a:r>
              <a:rPr lang="en-US" dirty="0" err="1"/>
              <a:t>data.metrics</a:t>
            </a:r>
            <a:r>
              <a:rPr lang="en-US" dirty="0"/>
              <a:t>:</a:t>
            </a:r>
          </a:p>
          <a:p>
            <a:pPr marL="76200" indent="0">
              <a:buNone/>
            </a:pPr>
            <a:r>
              <a:rPr lang="en-US" dirty="0"/>
              <a:t>            </a:t>
            </a:r>
            <a:r>
              <a:rPr lang="en-US" dirty="0" err="1"/>
              <a:t>UpdateDashboard</a:t>
            </a:r>
            <a:r>
              <a:rPr lang="en-US" dirty="0"/>
              <a:t>(</a:t>
            </a:r>
            <a:r>
              <a:rPr lang="en-US" dirty="0" err="1"/>
              <a:t>data.metrics.voltage</a:t>
            </a:r>
            <a:r>
              <a:rPr lang="en-US" dirty="0"/>
              <a:t>, </a:t>
            </a:r>
            <a:r>
              <a:rPr lang="en-US" dirty="0" err="1"/>
              <a:t>data.metrics.temp</a:t>
            </a:r>
            <a:r>
              <a:rPr lang="en-US" dirty="0"/>
              <a:t>)</a:t>
            </a:r>
          </a:p>
          <a:p>
            <a:pPr marL="76200" indent="0">
              <a:buNone/>
            </a:pPr>
            <a:r>
              <a:rPr lang="en-US" dirty="0"/>
              <a:t>            </a:t>
            </a:r>
          </a:p>
          <a:p>
            <a:pPr marL="76200" indent="0">
              <a:buNone/>
            </a:pPr>
            <a:r>
              <a:rPr lang="en-US" dirty="0"/>
              <a:t>        // Show Safety Precautions if high risk</a:t>
            </a:r>
          </a:p>
          <a:p>
            <a:pPr marL="76200" indent="0">
              <a:buNone/>
            </a:pPr>
            <a:r>
              <a:rPr lang="en-US" dirty="0"/>
              <a:t>        IF </a:t>
            </a:r>
            <a:r>
              <a:rPr lang="en-US" dirty="0" err="1"/>
              <a:t>data.risk_score</a:t>
            </a:r>
            <a:r>
              <a:rPr lang="en-US" dirty="0"/>
              <a:t> &gt; 50%:</a:t>
            </a:r>
          </a:p>
          <a:p>
            <a:pPr marL="76200" indent="0">
              <a:buNone/>
            </a:pPr>
            <a:r>
              <a:rPr lang="en-US" dirty="0"/>
              <a:t>            </a:t>
            </a:r>
            <a:r>
              <a:rPr lang="en-US" dirty="0" err="1"/>
              <a:t>ShowAlert</a:t>
            </a:r>
            <a:r>
              <a:rPr lang="en-US" dirty="0"/>
              <a:t>("Warning: High Compliance Risk detected!")</a:t>
            </a:r>
          </a:p>
          <a:p>
            <a:pPr marL="76200" indent="0">
              <a:buNone/>
            </a:pPr>
            <a:r>
              <a:rPr lang="en-US" dirty="0"/>
              <a:t>    ELSE:</a:t>
            </a:r>
          </a:p>
          <a:p>
            <a:pPr marL="76200" indent="0">
              <a:buNone/>
            </a:pPr>
            <a:r>
              <a:rPr lang="en-US" dirty="0"/>
              <a:t>        </a:t>
            </a:r>
            <a:r>
              <a:rPr lang="en-US" dirty="0" err="1"/>
              <a:t>RenderMessage</a:t>
            </a:r>
            <a:r>
              <a:rPr lang="en-US" dirty="0"/>
              <a:t>("I couldn't find a regulation matching that query.", "Bot")</a:t>
            </a:r>
          </a:p>
          <a:p>
            <a:pPr marL="76200" indent="0">
              <a:buNone/>
            </a:pPr>
            <a:r>
              <a:rPr lang="en-US" dirty="0"/>
              <a:t>END FUNCTION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 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Pseudocode(Backend)</a:t>
            </a:r>
          </a:p>
        </p:txBody>
      </p:sp>
      <p:sp>
        <p:nvSpPr>
          <p:cNvPr id="190" name="Text Placeholder 2"/>
          <p:cNvSpPr txBox="1"/>
          <p:nvPr/>
        </p:nvSpPr>
        <p:spPr>
          <a:xfrm>
            <a:off x="865974" y="1066661"/>
            <a:ext cx="9091842" cy="5499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CLASS </a:t>
            </a:r>
            <a:r>
              <a:rPr lang="en-US" dirty="0" err="1"/>
              <a:t>ComplianceBot</a:t>
            </a:r>
            <a:r>
              <a:rPr lang="en-US" dirty="0"/>
              <a:t>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INIT: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Load </a:t>
            </a:r>
            <a:r>
              <a:rPr lang="en-US" dirty="0" err="1"/>
              <a:t>knowledge_base</a:t>
            </a:r>
            <a:r>
              <a:rPr lang="en-US" dirty="0"/>
              <a:t> FROM "</a:t>
            </a:r>
            <a:r>
              <a:rPr lang="en-US" dirty="0" err="1"/>
              <a:t>equipment_data.json</a:t>
            </a:r>
            <a:r>
              <a:rPr lang="en-US" dirty="0"/>
              <a:t>" [cite: 710]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FUNCTION </a:t>
            </a:r>
            <a:r>
              <a:rPr lang="en-US" dirty="0" err="1"/>
              <a:t>FindEquipment</a:t>
            </a:r>
            <a:r>
              <a:rPr lang="en-US" dirty="0"/>
              <a:t>(</a:t>
            </a:r>
            <a:r>
              <a:rPr lang="en-US" dirty="0" err="1"/>
              <a:t>user_query</a:t>
            </a:r>
            <a:r>
              <a:rPr lang="en-US" dirty="0"/>
              <a:t>):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</a:t>
            </a:r>
            <a:r>
              <a:rPr lang="en-US" dirty="0" err="1"/>
              <a:t>normalized_query</a:t>
            </a:r>
            <a:r>
              <a:rPr lang="en-US" dirty="0"/>
              <a:t> = </a:t>
            </a:r>
            <a:r>
              <a:rPr lang="en-US" dirty="0" err="1"/>
              <a:t>user_query.to_lower</a:t>
            </a:r>
            <a:r>
              <a:rPr lang="en-US" dirty="0"/>
              <a:t>()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FOR item IN </a:t>
            </a:r>
            <a:r>
              <a:rPr lang="en-US" dirty="0" err="1"/>
              <a:t>knowledge_base</a:t>
            </a:r>
            <a:r>
              <a:rPr lang="en-US" dirty="0"/>
              <a:t>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# Check exact name, acronyms (e.g., GIS), or aliases [cite: 673]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IF item.name IN </a:t>
            </a:r>
            <a:r>
              <a:rPr lang="en-US" dirty="0" err="1"/>
              <a:t>normalized_query</a:t>
            </a:r>
            <a:r>
              <a:rPr lang="en-US" dirty="0"/>
              <a:t> OR </a:t>
            </a:r>
            <a:r>
              <a:rPr lang="en-US" dirty="0" err="1"/>
              <a:t>item.acronym</a:t>
            </a:r>
            <a:r>
              <a:rPr lang="en-US" dirty="0"/>
              <a:t> IN </a:t>
            </a:r>
            <a:r>
              <a:rPr lang="en-US" dirty="0" err="1"/>
              <a:t>normalized_query</a:t>
            </a:r>
            <a:r>
              <a:rPr lang="en-US" dirty="0"/>
              <a:t>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    RETURN item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RETURN Null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FUNCTION </a:t>
            </a:r>
            <a:r>
              <a:rPr lang="en-US" dirty="0" err="1"/>
              <a:t>ProcessChat</a:t>
            </a:r>
            <a:r>
              <a:rPr lang="en-US" dirty="0"/>
              <a:t>(</a:t>
            </a:r>
            <a:r>
              <a:rPr lang="en-US" dirty="0" err="1"/>
              <a:t>user_query</a:t>
            </a:r>
            <a:r>
              <a:rPr lang="en-US" dirty="0"/>
              <a:t>):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# Step 1: Entity Extraction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equipment = </a:t>
            </a:r>
            <a:r>
              <a:rPr lang="en-US" dirty="0" err="1"/>
              <a:t>FindEquipment</a:t>
            </a:r>
            <a:r>
              <a:rPr lang="en-US" dirty="0"/>
              <a:t>(</a:t>
            </a:r>
            <a:r>
              <a:rPr lang="en-US" dirty="0" err="1"/>
              <a:t>user_query</a:t>
            </a:r>
            <a:r>
              <a:rPr lang="en-US" dirty="0"/>
              <a:t>) [cite: 691]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IF equipment IS Null: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RETURN "Equipment not recognized."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# Step 2: Intent Classification &amp; Response Generation [cite: 695-703]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IF "tool" IN </a:t>
            </a:r>
            <a:r>
              <a:rPr lang="en-US" dirty="0" err="1"/>
              <a:t>user_query</a:t>
            </a:r>
            <a:r>
              <a:rPr lang="en-US" dirty="0"/>
              <a:t>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result = </a:t>
            </a:r>
            <a:r>
              <a:rPr lang="en-US" dirty="0" err="1"/>
              <a:t>equipment.tools</a:t>
            </a:r>
            <a:endParaRPr lang="en-US" dirty="0"/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ELSE IF "maintain" OR "prevent" IN </a:t>
            </a:r>
            <a:r>
              <a:rPr lang="en-US" dirty="0" err="1"/>
              <a:t>user_query</a:t>
            </a:r>
            <a:r>
              <a:rPr lang="en-US" dirty="0"/>
              <a:t>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result = </a:t>
            </a:r>
            <a:r>
              <a:rPr lang="en-US" dirty="0" err="1"/>
              <a:t>equipment.preventive_maintenance</a:t>
            </a:r>
            <a:endParaRPr lang="en-US" dirty="0"/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ELSE IF "safety" OR "precaution" IN </a:t>
            </a:r>
            <a:r>
              <a:rPr lang="en-US" dirty="0" err="1"/>
              <a:t>user_query</a:t>
            </a:r>
            <a:r>
              <a:rPr lang="en-US" dirty="0"/>
              <a:t>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result = </a:t>
            </a:r>
            <a:r>
              <a:rPr lang="en-US" dirty="0" err="1"/>
              <a:t>equipment.safety_precautions</a:t>
            </a:r>
            <a:endParaRPr lang="en-US" dirty="0"/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ELSE IF "fail" OR "symptom" IN </a:t>
            </a:r>
            <a:r>
              <a:rPr lang="en-US" dirty="0" err="1"/>
              <a:t>user_query</a:t>
            </a:r>
            <a:r>
              <a:rPr lang="en-US" dirty="0"/>
              <a:t>: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result = </a:t>
            </a:r>
            <a:r>
              <a:rPr lang="en-US" dirty="0" err="1"/>
              <a:t>equipment.failure_symptoms</a:t>
            </a:r>
            <a:endParaRPr lang="en-US" dirty="0"/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    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# Step 3: Return Response with Random Confidence Score [cite: 696]</a:t>
            </a:r>
          </a:p>
          <a:p>
            <a:pPr defTabSz="457200">
              <a:defRPr sz="10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        RETURN </a:t>
            </a:r>
            <a:r>
              <a:rPr lang="en-US" dirty="0" err="1"/>
              <a:t>FormatResponse</a:t>
            </a:r>
            <a:r>
              <a:rPr lang="en-US" dirty="0"/>
              <a:t>(result, </a:t>
            </a:r>
            <a:r>
              <a:rPr lang="en-US" dirty="0" err="1"/>
              <a:t>confidence_score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</p:spPr>
        <p:txBody>
          <a:bodyPr/>
          <a:lstStyle>
            <a:lvl1pPr marL="190500" indent="-38100" algn="just">
              <a:spcBef>
                <a:spcPts val="0"/>
              </a:spcBef>
              <a:buSzTx/>
              <a:buNone/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cm</a:t>
            </a: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81E503A7-E278-21E7-7305-3E1B0A26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PROTOTYPE SNAPSHOT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143000"/>
            <a:ext cx="9821672" cy="474630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5835" y="256032"/>
            <a:ext cx="8011769" cy="587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83251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02E079-6BA6-47D1-3AC4-FFB249C9C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 LINKS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B042710-D01E-2D72-B689-3FCA763B0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LINK:</a:t>
            </a:r>
          </a:p>
          <a:p>
            <a:pPr lvl="1"/>
            <a:r>
              <a:rPr lang="en-IN" dirty="0">
                <a:hlinkClick r:id="rId2"/>
              </a:rPr>
              <a:t>https://</a:t>
            </a:r>
            <a:r>
              <a:rPr lang="en-IN" dirty="0" smtClean="0">
                <a:hlinkClick r:id="rId2"/>
              </a:rPr>
              <a:t>github.com/codedbyaditi/substation-</a:t>
            </a:r>
            <a:endParaRPr lang="en-IN" dirty="0" smtClean="0"/>
          </a:p>
          <a:p>
            <a:pPr lvl="1"/>
            <a:endParaRPr lang="en-IN" dirty="0"/>
          </a:p>
          <a:p>
            <a:pPr marL="5588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589092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Publication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455420"/>
            <a:ext cx="100584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9939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1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68680">
              <a:defRPr sz="2660" b="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r>
              <a:t>References (IEEE Paper format)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12800" y="1380744"/>
            <a:ext cx="9922256" cy="18158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Ahmad, F. &amp; Khan, J. (2023). Ethical and Safety Implications of AI Deployment in Critical Energy Systems. Energy Policy Journal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He</a:t>
            </a:r>
            <a:r>
              <a:rPr lang="en-US" dirty="0"/>
              <a:t>, T., et al. (2023). BERT-</a:t>
            </a:r>
            <a:r>
              <a:rPr lang="en-US" dirty="0" err="1"/>
              <a:t>BiLSTM</a:t>
            </a:r>
            <a:r>
              <a:rPr lang="en-US" dirty="0"/>
              <a:t>-CRF for Named Entity Recognition in Complex Industrial Equipment Manuals. Journal of Applied ML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Chen</a:t>
            </a:r>
            <a:r>
              <a:rPr lang="en-US" dirty="0"/>
              <a:t>, Y. &amp; Liu, P. (2022). Knowledge Graph Construction and Reasoning for Power System Fault Diagnosis. IEEE Transactions on Power Systems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Smith</a:t>
            </a:r>
            <a:r>
              <a:rPr lang="en-US" dirty="0"/>
              <a:t>, A. &amp; Jones, B. (2022). The Transition from Preventive to Predictive Maintenance in Smart Grids. Journal of Power Engineering.</a:t>
            </a:r>
            <a:endParaRPr kumimoji="0" lang="en-US" sz="1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 1"/>
          <p:cNvSpPr txBox="1">
            <a:spLocks noGrp="1"/>
          </p:cNvSpPr>
          <p:nvPr>
            <p:ph type="title"/>
          </p:nvPr>
        </p:nvSpPr>
        <p:spPr>
          <a:xfrm>
            <a:off x="3349668" y="2349502"/>
            <a:ext cx="10363201" cy="1362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F497D"/>
                </a:solidFill>
              </a:defRPr>
            </a:lvl1pPr>
          </a:lstStyle>
          <a:p>
            <a: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ioinformatics">
  <a:themeElements>
    <a:clrScheme name="Bioinformatic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Bioinformatics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Bioinformatic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1152</Words>
  <Application>Microsoft Office PowerPoint</Application>
  <PresentationFormat>Widescreen</PresentationFormat>
  <Paragraphs>162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Cambria</vt:lpstr>
      <vt:lpstr>Courier New</vt:lpstr>
      <vt:lpstr>Google Sans</vt:lpstr>
      <vt:lpstr>Times New Roman</vt:lpstr>
      <vt:lpstr>Times Roman</vt:lpstr>
      <vt:lpstr>Verdana</vt:lpstr>
      <vt:lpstr>Bioinformatics</vt:lpstr>
      <vt:lpstr> Substation AI Compliance Assistant</vt:lpstr>
      <vt:lpstr>Problem Statement Number: PSCS_67</vt:lpstr>
      <vt:lpstr>Content</vt:lpstr>
      <vt:lpstr>Problem Statement:</vt:lpstr>
      <vt:lpstr>Abstract</vt:lpstr>
      <vt:lpstr>Literature Survey </vt:lpstr>
      <vt:lpstr>Objectives </vt:lpstr>
      <vt:lpstr>Existing methods and drawbacks</vt:lpstr>
      <vt:lpstr>Module</vt:lpstr>
      <vt:lpstr>Architecture </vt:lpstr>
      <vt:lpstr>Pseudocode(Frontend)</vt:lpstr>
      <vt:lpstr>Pseudocode(Backend)</vt:lpstr>
      <vt:lpstr>PROTOTYPE SNAPSHOT</vt:lpstr>
      <vt:lpstr>PowerPoint Presentation</vt:lpstr>
      <vt:lpstr>PROJECT  LINKS</vt:lpstr>
      <vt:lpstr>Publication</vt:lpstr>
      <vt:lpstr>References (IEEE Paper format)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Substation AI Compliance Assistant</dc:title>
  <dc:creator>PRATIKSHA SHETTY</dc:creator>
  <cp:lastModifiedBy>user</cp:lastModifiedBy>
  <cp:revision>14</cp:revision>
  <dcterms:modified xsi:type="dcterms:W3CDTF">2025-12-03T04:35:00Z</dcterms:modified>
</cp:coreProperties>
</file>